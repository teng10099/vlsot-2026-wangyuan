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ecda7aa6784e80" /><Relationship Type="http://schemas.openxmlformats.org/officeDocument/2006/relationships/extended-properties" Target="/docProps/app.xml" Id="R47fca785e0444cce" /><Relationship Type="http://schemas.openxmlformats.org/officeDocument/2006/relationships/officeDocument" Target="/ppt/presentation.xml" Id="Ree358c249f28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dc293c7f544b89"/>
  </p:sldMasterIdLst>
  <p:notesMasterIdLst>
    <p:notesMasterId xmlns:r="http://schemas.openxmlformats.org/officeDocument/2006/relationships" r:id="Re5cddb0f554e4d90"/>
  </p:notesMasterIdLst>
  <p:sldIdLst>
    <p:sldId xmlns:r="http://schemas.openxmlformats.org/officeDocument/2006/relationships" id="256" r:id="Rfa4bc4bf10c74ed1"/>
    <p:sldId xmlns:r="http://schemas.openxmlformats.org/officeDocument/2006/relationships" id="257" r:id="R0ab4c206a4514a23"/>
    <p:sldId xmlns:r="http://schemas.openxmlformats.org/officeDocument/2006/relationships" id="258" r:id="R6e19268fba4443c4"/>
    <p:sldId xmlns:r="http://schemas.openxmlformats.org/officeDocument/2006/relationships" id="259" r:id="R75b064095a2a4f6c"/>
    <p:sldId xmlns:r="http://schemas.openxmlformats.org/officeDocument/2006/relationships" id="260" r:id="Rdeca1d8094d840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817068bf2e4c03" /><Relationship Type="http://schemas.openxmlformats.org/officeDocument/2006/relationships/slideMaster" Target="/ppt/slideMasters/slideMaster1.xml" Id="R3ddc293c7f544b89" /><Relationship Type="http://schemas.openxmlformats.org/officeDocument/2006/relationships/notesMaster" Target="/ppt/notesMasters/notesMaster1.xml" Id="Re5cddb0f554e4d90" /><Relationship Type="http://schemas.openxmlformats.org/officeDocument/2006/relationships/presProps" Target="/ppt/presProps.xml" Id="Rdf8fae2043d34191" /><Relationship Type="http://schemas.openxmlformats.org/officeDocument/2006/relationships/tableStyles" Target="/ppt/tableStyles.xml" Id="Recae33b7282a4573" /><Relationship Type="http://schemas.openxmlformats.org/officeDocument/2006/relationships/slide" Target="/ppt/slides/slide1.xml" Id="Rfa4bc4bf10c74ed1" /><Relationship Type="http://schemas.openxmlformats.org/officeDocument/2006/relationships/slide" Target="/ppt/slides/slide2.xml" Id="R0ab4c206a4514a23" /><Relationship Type="http://schemas.openxmlformats.org/officeDocument/2006/relationships/slide" Target="/ppt/slides/slide3.xml" Id="R6e19268fba4443c4" /><Relationship Type="http://schemas.openxmlformats.org/officeDocument/2006/relationships/slide" Target="/ppt/slides/slide4.xml" Id="R75b064095a2a4f6c" /><Relationship Type="http://schemas.openxmlformats.org/officeDocument/2006/relationships/slide" Target="/ppt/slides/slide5.xml" Id="Rdeca1d8094d840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47f0ac4244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88f5b977374a75" /><Relationship Type="http://schemas.openxmlformats.org/officeDocument/2006/relationships/notesMaster" Target="/ppt/notesMasters/notesMaster1.xml" Id="R1cce50ec3b4645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18f46d56914b7a" /><Relationship Type="http://schemas.openxmlformats.org/officeDocument/2006/relationships/notesMaster" Target="/ppt/notesMasters/notesMaster1.xml" Id="R1a0983e9fb8649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842ab613d646de" /><Relationship Type="http://schemas.openxmlformats.org/officeDocument/2006/relationships/notesMaster" Target="/ppt/notesMasters/notesMaster1.xml" Id="R088a508cbdce45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7e594a2b36449e" /><Relationship Type="http://schemas.openxmlformats.org/officeDocument/2006/relationships/notesMaster" Target="/ppt/notesMasters/notesMaster1.xml" Id="Rf97d2d42d08d46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8999ff96f2427c" /><Relationship Type="http://schemas.openxmlformats.org/officeDocument/2006/relationships/notesMaster" Target="/ppt/notesMasters/notesMaster1.xml" Id="R74e12f7b36e04f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任务：输入单目视频帧、英文目标描述与对应标定，逐帧输出被指代目标的L、W、H、X、Y、Z。官方TRAIN 227片段、TEST 10片段，每片段30帧。内部185/42均来自官方TRAIN，按sequence_id隔离，42验证片段来自8个原始序列。TEST不参与本次训练或权重选择。初始化权重的完整训练历史仍未完全核验，因此不能宣称从未接触验证场景。</a:t>
            </a:r>
          </a:p>
          <a:p xmlns:a="http://schemas.openxmlformats.org/drawingml/2006/main">
            <a:r>
              <a:t>出处：vlsot_remote/official_data/数据准备说明.txt；vlsot_remote/results/official_v2_training_reports_20261023/official_data_20261023/initial_training_split/split_provenance.json。图像：vlsot_remote/official_data/extracted/dataset/train/img/000000.jpg，仅作输入示例，无目标叠加。</a:t>
            </a:r>
          </a:p>
          <a:p xmlns:a="http://schemas.openxmlformats.org/drawingml/2006/main">
            <a:br/>
            <a:r>
              <a:t>报名信息出处：用户提供的报名表.pdf回执，提交时间2026/10/23 17:41:05。赛道A（3D视觉跟踪）VLSOT。队名望远队，学院数据科学与人工智能研究院，指导老师孙士杰，队长滕恒基，成员滕恒基、梁天宇、苗富敬、刘帅、安子茜。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本页明确Swin、RoBERTa、差分注意力与TTM来自既有实现，不宣称本次原创。融合微调冻结视觉/文本大骨干，更新融合层与新geometry head。padding mask修复与空间残差通过显式配置开关写入checkpoint model_options，推理时严格核对。旧3轮/5轮每片段训练仅前3帧，新续训初始化自epoch5，新增2轮每片段30帧。梯度按帧反传，记忆在片段内detach，不是完整30帧BPTT。</a:t>
            </a:r>
          </a:p>
          <a:p xmlns:a="http://schemas.openxmlformats.org/drawingml/2006/main">
            <a:r>
              <a:t>出处：work/lib/models/mono3dvg/mono3dvg.py；work/lib/models/mono3dvg/mono3dvg_transformer.py；work/train_official.py；work/lib/helpers/trainer_helper.py；work/tests/test_attention_padding_mask.py、test_temporal_residual.py；VLSOT_提交候选_完整时序_20261023/05_验证记录/run_manifest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官方train/frame字段是图像名后跟LWHXYZ。训练适配器把native XYZ通过逐图R/t转换到camera，再用随resize缩放的K求投影中心。正cameraZ及HWL通过softplus约束；center输出无sigmoid，允许投影在图外。损失为center L1与log-depth/log-dim SmoothL1。推理从center×WH与K反投影，以solve(R,camera-t)恢复native，HWL换序为LWH，不添加h/2，不追加virtuallidar_to_world。标定来自图像匹配的既有数据，官方ZIP不附标定，不能称矩阵与官方版本已核对。文本范围仅是初始锚点，全30帧沿用可能损害运动目标；它并非后续帧真值。</a:t>
            </a:r>
          </a:p>
          <a:p xmlns:a="http://schemas.openxmlformats.org/drawingml/2006/main">
            <a:r>
              <a:t>出处：work/lib/datasets/mono3drefer/official_vlsot_dataset.py；work/lib/losses/official_geometry.py；work/tools/infer_official_v2.py；work/tools/language_numeric_priors.py；work/tools/postprocess_v2_numeric_priors.py。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位全部为米，越低越好。native_xyz_mean_error_m为逐帧sqrt(dx^2+dy^2+dz^2)的均值，不是三个轴绝对误差的平均。dimensions_mean_absolute_error_m为逐帧三维尺寸绝对误差的平均。旧3轮无残差29.723660249116488，有残差13.746671114418408，为固定训练轮数和设置的残差消融，二者都训练前3帧、验证全30帧。旧5轮raw12.235981119264466，range+dims6.538614843851882。新模型从旧5轮初始化，再做2轮完整30帧续训，raw10.759370317881691、dimMAE0.6408887246850307；同一checkpoint经可选文本初始range+dims后center6.35883797228038、dimMAE0.22924744308783265。额外训练计算量与训练长度同时改变，不能把所有提升归因于单个变量。最新结果无官方平台评分。旧5轮36改善/6变差不能直接沿用于新权重，本页未引用此统计。</a:t>
            </a:r>
          </a:p>
          <a:p xmlns:a="http://schemas.openxmlformats.org/drawingml/2006/main">
            <a:r>
              <a:t>出处：vlsot_remote/results/official_v2_candidate_reports_20261023/outputs/official_v2_noresidual_fusion_20261023/epoch3_full30_validation.json；同outputs下official_v2_residual_fusion_20261023/epoch3_full30_validation.json、epoch5_full30_validation_with_prior_audit.json；最新VLSOT_提交候选_完整时序_20261023/05_验证记录/full30_validation_with_prior_audit.json，checkpoint_sha256=63cf94a7f32fdec1d2bb0da6198c33e56382b4419384e89cf2028d4d547e7fd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队伍身份信息依据报名回执核对。最新完整时序候选的strip-optimizer权重已经逐张量核对；300帧TEST推理完成，同版本ONNX checker及连续两步ORT验证通过。分词、预处理、K/R/t反投影以及可选文本先验不在ONNX图内，部署需带相应代码。TTM每片段重置记忆/phase和seed444，片段内携带状态；ONNX端需严格传回next state并提供可复现噪声。初始化权重完整历史未知，本次内部val并非已证明完全无历史接触的泛化评估。许可链与公开链接仍需在实际公开时核对。当前无官方提交回执或官方分数。</a:t>
            </a:r>
          </a:p>
          <a:p xmlns:a="http://schemas.openxmlformats.org/drawingml/2006/main">
            <a:r>
              <a:t>出处：VLSOT_提交候选_完整时序_20261023/05_验证记录/run_manifest.json、resolved_config.yaml、full30_validation_with_prior_audit.json；同版本候选的inference_manifest.json、postprocess_manifest.json与export_manifest.json；work/tools/export_official_v2_onnx.py；vlsot_remote/训练与提交操作说明_20261023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15fe84c7a49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db79435bc47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902c81897445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ffa8368afb4d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dae930235043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2e986e8364e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912DF0-F754-4E17-8A64-57CDE949C5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BBC471A-A0DF-4A2E-AED4-FC5255B427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C8F5931-ECFA-4D45-9C00-5126F09C27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4C8701-097C-457F-B1FF-39155CF7F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4F9A6A-C3B2-40ED-912E-E1BE6EF5D6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F4EA92-D1D9-40D3-B11C-37CB36CB7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C929B1-DBC1-4128-80AD-55E73827C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68C595-DCBE-4653-B1B5-E09D9EE0961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FF09BC-98A0-4837-938A-F4C43A5A53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191BFD-A803-4D57-876D-F83732BAD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1df14e6c5f415a" /><Relationship Type="http://schemas.openxmlformats.org/officeDocument/2006/relationships/slideLayout" Target="/ppt/slideLayouts/slideLayout1.xml" Id="R26f5645e90c942be" /><Relationship Type="http://schemas.openxmlformats.org/officeDocument/2006/relationships/slideLayout" Target="/ppt/slideLayouts/slideLayout2.xml" Id="Rdcd4a0b4f4e24bb9" /><Relationship Type="http://schemas.openxmlformats.org/officeDocument/2006/relationships/slideLayout" Target="/ppt/slideLayouts/slideLayout3.xml" Id="Rccb807a52b224302" /><Relationship Type="http://schemas.openxmlformats.org/officeDocument/2006/relationships/slideLayout" Target="/ppt/slideLayouts/slideLayout4.xml" Id="Rc24c47aa97f04914" /><Relationship Type="http://schemas.openxmlformats.org/officeDocument/2006/relationships/slideLayout" Target="/ppt/slideLayouts/slideLayout5.xml" Id="R9b7e3f8184d44823" /><Relationship Type="http://schemas.openxmlformats.org/officeDocument/2006/relationships/slideLayout" Target="/ppt/slideLayouts/slideLayout6.xml" Id="R41115b14fc114e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f5645e90c942be"/>
    <p:sldLayoutId xmlns:r="http://schemas.openxmlformats.org/officeDocument/2006/relationships" id="2147483650" r:id="Rdcd4a0b4f4e24bb9"/>
    <p:sldLayoutId xmlns:r="http://schemas.openxmlformats.org/officeDocument/2006/relationships" id="2147483651" r:id="Rccb807a52b224302"/>
    <p:sldLayoutId xmlns:r="http://schemas.openxmlformats.org/officeDocument/2006/relationships" id="2147483652" r:id="Rc24c47aa97f04914"/>
    <p:sldLayoutId xmlns:r="http://schemas.openxmlformats.org/officeDocument/2006/relationships" id="2147483653" r:id="R9b7e3f8184d44823"/>
    <p:sldLayoutId xmlns:r="http://schemas.openxmlformats.org/officeDocument/2006/relationships" id="2147483654" r:id="R41115b14fc114e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ddd4cfcff4d24" /><Relationship Type="http://schemas.openxmlformats.org/officeDocument/2006/relationships/image" Target="/ppt/media/image.jpeg" Id="R4463230fc033462b" /><Relationship Type="http://schemas.openxmlformats.org/officeDocument/2006/relationships/notesSlide" Target="/ppt/notesSlides/notesSlide1.xml" Id="R307328e263d04b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72eb13b734e38" /><Relationship Type="http://schemas.openxmlformats.org/officeDocument/2006/relationships/notesSlide" Target="/ppt/notesSlides/notesSlide2.xml" Id="R995b3f4148794b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5e52000f840e6" /><Relationship Type="http://schemas.openxmlformats.org/officeDocument/2006/relationships/notesSlide" Target="/ppt/notesSlides/notesSlide3.xml" Id="R0b164ead46304e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94c95835a4fbb" /><Relationship Type="http://schemas.openxmlformats.org/officeDocument/2006/relationships/notesSlide" Target="/ppt/notesSlides/notesSlide4.xml" Id="R14f59c6c98034e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cd1f5b0e8846e3" /><Relationship Type="http://schemas.openxmlformats.org/officeDocument/2006/relationships/notesSlide" Target="/ppt/notesSlides/notesSlide5.xml" Id="R538ada82624c46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mpetition">
            <a:extLst xmlns:a="http://schemas.openxmlformats.org/drawingml/2006/main">
              <a:ext uri="{FF2B5EF4-FFF2-40B4-BE49-F238E27FC236}">
                <a16:creationId xmlns:a16="http://schemas.microsoft.com/office/drawing/2014/main" id="{C877C90C-2D68-4E79-91BA-695FC26C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619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赛道 A（3D视觉跟踪）VLSOT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48A95C4-42B4-4681-83E3-88BAC4CE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61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语言指引的视频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三维目标</a:t>
            </a:r>
            <a:r>
              <a:rPr sz="45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跟踪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CEBDA7F-F228-4CDE-B3ED-D0C3B4B1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空间残差、官方三维监督与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可选文本数值先验</a:t>
            </a:r>
          </a:p>
        </p:txBody>
      </p:sp>
      <p:sp>
        <p:nvSpPr>
          <p:cNvPr id="4" name="data-scope">
            <a:extLst xmlns:a="http://schemas.openxmlformats.org/drawingml/2006/main">
              <a:ext uri="{FF2B5EF4-FFF2-40B4-BE49-F238E27FC236}">
                <a16:creationId xmlns:a16="http://schemas.microsoft.com/office/drawing/2014/main" id="{9ECAC420-70EB-4A25-95C2-5A6004BF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185 个训练片段 / 42 个验证片段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按原始场景隔离，完整验证 1,260 帧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9F585-A89A-427E-B3C1-DE547D7DD2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3230fc033462b"/>
          <a:stretch xmlns:a="http://schemas.openxmlformats.org/drawingml/2006/main"/>
        </p:blipFill>
        <p:spPr>
          <a:xfrm xmlns:a="http://schemas.openxmlformats.org/drawingml/2006/main">
            <a:off x="6324600" y="1926431"/>
            <a:ext cx="5257800" cy="2957513"/>
          </a:xfrm>
          <a:prstGeom xmlns:a="http://schemas.openxmlformats.org/drawingml/2006/main" prst="rect">
            <a:avLst/>
          </a:prstGeom>
        </p:spPr>
      </p:pic>
      <p:sp>
        <p:nvSpPr>
          <p:cNvPr id="6" name="image-credit">
            <a:extLst xmlns:a="http://schemas.openxmlformats.org/drawingml/2006/main">
              <a:ext uri="{FF2B5EF4-FFF2-40B4-BE49-F238E27FC236}">
                <a16:creationId xmlns:a16="http://schemas.microsoft.com/office/drawing/2014/main" id="{660530EC-753D-4961-8861-98E64458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10150"/>
            <a:ext cx="525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官方 TRAIN 场景示例</a:t>
            </a:r>
          </a:p>
        </p:txBody>
      </p:sp>
      <p:sp>
        <p:nvSpPr>
          <p:cNvPr id="7" name="team-info">
            <a:extLst xmlns:a="http://schemas.openxmlformats.org/drawingml/2006/main">
              <a:ext uri="{FF2B5EF4-FFF2-40B4-BE49-F238E27FC236}">
                <a16:creationId xmlns:a16="http://schemas.microsoft.com/office/drawing/2014/main" id="{CE8E9568-B2C6-41BA-B5D5-6D4A621A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队名：</a:t>
            </a:r>
            <a:r>
              <a:rPr sz="172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望远队</a:t>
            </a:r>
            <a:r>
              <a: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    学院：数据科学与人工智能研究院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指导老师：孙士杰    队长：滕恒基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成员：滕恒基、梁天宇、苗富敬、刘帅、安子茜</a:t>
            </a:r>
          </a:p>
        </p:txBody>
      </p:sp>
      <p:sp>
        <p:nvSpPr>
          <p:cNvPr id="8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FC35166-4ECF-402B-B601-BF8BE8A6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长安大学第二届人工智能创新大赛 / 2026.10.23</a:t>
            </a:r>
          </a:p>
        </p:txBody>
      </p:sp>
    </p:spTree>
    <p:extLst>
      <p:ext uri="{BB962C8B-B14F-4D97-AF65-F5344CB8AC3E}">
        <p14:creationId xmlns:p14="http://schemas.microsoft.com/office/powerpoint/2010/main" val="8300250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10C4A2D-3C6C-4282-BB6B-A8576BCC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继承架构与本次训练修复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29DB5010-DFA5-42EF-88B4-6DDA9EC4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内部验证 / 2026.10.23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3312CA-6640-4B9B-8108-44085283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2 / 5</a:t>
            </a:r>
          </a:p>
        </p:txBody>
      </p:sp>
      <p:sp>
        <p:nvSpPr>
          <p:cNvPr id="4" name="inherited-label">
            <a:extLst xmlns:a="http://schemas.openxmlformats.org/drawingml/2006/main">
              <a:ext uri="{FF2B5EF4-FFF2-40B4-BE49-F238E27FC236}">
                <a16:creationId xmlns:a16="http://schemas.microsoft.com/office/drawing/2014/main" id="{EE6924FE-3CE3-4202-BECB-85D8A3B3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继承架构</a:t>
            </a:r>
          </a:p>
        </p:txBody>
      </p:sp>
      <p:sp>
        <p:nvSpPr>
          <p:cNvPr id="5" name="inherited-model">
            <a:extLst xmlns:a="http://schemas.openxmlformats.org/drawingml/2006/main">
              <a:ext uri="{FF2B5EF4-FFF2-40B4-BE49-F238E27FC236}">
                <a16:creationId xmlns:a16="http://schemas.microsoft.com/office/drawing/2014/main" id="{59144F97-8CD7-491C-926B-5BBABD22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Swin 图像编码、RoBERTa 文本编码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差分注意力融合、TTM 时序记忆</a:t>
            </a:r>
          </a:p>
        </p:txBody>
      </p:sp>
      <p:sp>
        <p:nvSpPr>
          <p:cNvPr id="6" name="new-label">
            <a:extLst xmlns:a="http://schemas.openxmlformats.org/drawingml/2006/main">
              <a:ext uri="{FF2B5EF4-FFF2-40B4-BE49-F238E27FC236}">
                <a16:creationId xmlns:a16="http://schemas.microsoft.com/office/drawing/2014/main" id="{D40D22F0-ACF6-4E4D-A182-42ADC3C7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本次改动</a:t>
            </a:r>
          </a:p>
        </p:txBody>
      </p:sp>
      <p:sp>
        <p:nvSpPr>
          <p:cNvPr id="7" name="changes">
            <a:extLst xmlns:a="http://schemas.openxmlformats.org/drawingml/2006/main">
              <a:ext uri="{FF2B5EF4-FFF2-40B4-BE49-F238E27FC236}">
                <a16:creationId xmlns:a16="http://schemas.microsoft.com/office/drawing/2014/main" id="{D36A84EA-1543-480A-8203-03C79580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正确屏蔽文本 padding，统一 960×544 输入与特征尺度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保留 TTM 前空间特征，并与 TTM 输出做残差相加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新增只依赖官方 LWHXYZ 的三维头与训练入口</a:t>
            </a:r>
          </a:p>
        </p:txBody>
      </p:sp>
      <p:sp>
        <p:nvSpPr>
          <p:cNvPr id="8" name="training-protocol">
            <a:extLst xmlns:a="http://schemas.openxmlformats.org/drawingml/2006/main">
              <a:ext uri="{FF2B5EF4-FFF2-40B4-BE49-F238E27FC236}">
                <a16:creationId xmlns:a16="http://schemas.microsoft.com/office/drawing/2014/main" id="{84BAA920-6140-4048-A3BD-EDA7E0E3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本轮从旧 5 轮权重初始化，追加 2 轮完整 30 帧续训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片段内顺序传递记忆、截断梯度，片段间重置记忆与随机种子</a:t>
            </a:r>
          </a:p>
        </p:txBody>
      </p:sp>
    </p:spTree>
    <p:extLst>
      <p:ext uri="{BB962C8B-B14F-4D97-AF65-F5344CB8AC3E}">
        <p14:creationId xmlns:p14="http://schemas.microsoft.com/office/powerpoint/2010/main" val="4497697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">
            <a:extLst xmlns:a="http://schemas.openxmlformats.org/drawingml/2006/main">
              <a:ext uri="{FF2B5EF4-FFF2-40B4-BE49-F238E27FC236}">
                <a16:creationId xmlns:a16="http://schemas.microsoft.com/office/drawing/2014/main" id="{6AAE27DF-0161-49B5-8544-066486D8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三维监督与可选文本先验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76A61E-D249-4D30-BB0C-DB086474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官方 TRAIN 仅提供 LWHXYZ，缺失的二维框、朝向与稠密深度不作伪造监督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275E6783-F7B9-4381-B4A0-1F501DF9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内部验证 / 2026.10.23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029FCC-6841-42D2-B4B8-789D2B70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  <p:sp>
        <p:nvSpPr>
          <p:cNvPr id="5" name="geometry-label">
            <a:extLst xmlns:a="http://schemas.openxmlformats.org/drawingml/2006/main">
              <a:ext uri="{FF2B5EF4-FFF2-40B4-BE49-F238E27FC236}">
                <a16:creationId xmlns:a16="http://schemas.microsoft.com/office/drawing/2014/main" id="{3782501B-7477-4DD4-889A-C1297B1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相机几何监督</a:t>
            </a:r>
          </a:p>
        </p:txBody>
      </p:sp>
      <p:sp>
        <p:nvSpPr>
          <p:cNvPr id="6" name="geometry-body">
            <a:extLst xmlns:a="http://schemas.openxmlformats.org/drawingml/2006/main">
              <a:ext uri="{FF2B5EF4-FFF2-40B4-BE49-F238E27FC236}">
                <a16:creationId xmlns:a16="http://schemas.microsoft.com/office/drawing/2014/main" id="{147E1FA4-7034-4F27-9595-883E82E1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744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预测投影中心、正相机深度与 HWL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中心可在图外，深度不设固定上限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中心用 L1，深度和尺寸用对数域损失</a:t>
            </a:r>
          </a:p>
        </p:txBody>
      </p:sp>
      <p:sp>
        <p:nvSpPr>
          <p:cNvPr id="7" name="geometry-formula">
            <a:extLst xmlns:a="http://schemas.openxmlformats.org/drawingml/2006/main">
              <a:ext uri="{FF2B5EF4-FFF2-40B4-BE49-F238E27FC236}">
                <a16:creationId xmlns:a16="http://schemas.microsoft.com/office/drawing/2014/main" id="{95FE0C8D-B525-46C8-980B-16499B79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542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camera = R × native + t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native = solve(R, camera − t)</a:t>
            </a:r>
          </a:p>
        </p:txBody>
      </p:sp>
      <p:sp>
        <p:nvSpPr>
          <p:cNvPr id="8" name="prior-label">
            <a:extLst xmlns:a="http://schemas.openxmlformats.org/drawingml/2006/main">
              <a:ext uri="{FF2B5EF4-FFF2-40B4-BE49-F238E27FC236}">
                <a16:creationId xmlns:a16="http://schemas.microsoft.com/office/drawing/2014/main" id="{3F3DC55D-8F12-4A92-83A4-B203362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766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可选图外后处理</a:t>
            </a:r>
          </a:p>
        </p:txBody>
      </p:sp>
      <p:sp>
        <p:nvSpPr>
          <p:cNvPr id="9" name="prior-body">
            <a:extLst xmlns:a="http://schemas.openxmlformats.org/drawingml/2006/main">
              <a:ext uri="{FF2B5EF4-FFF2-40B4-BE49-F238E27FC236}">
                <a16:creationId xmlns:a16="http://schemas.microsoft.com/office/drawing/2014/main" id="{B80FEE32-26F6-4E5E-80C1-E8C5C508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81500"/>
            <a:ext cx="504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文本尺寸替换预测 LWH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初始距离重标定 XYZ 长度，保留方向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缺失或歧义回退，不使用 azimuth</a:t>
            </a:r>
          </a:p>
        </p:txBody>
      </p:sp>
      <p:sp>
        <p:nvSpPr>
          <p:cNvPr id="10" name="coordinate-note">
            <a:extLst xmlns:a="http://schemas.openxmlformats.org/drawingml/2006/main">
              <a:ext uri="{FF2B5EF4-FFF2-40B4-BE49-F238E27FC236}">
                <a16:creationId xmlns:a16="http://schemas.microsoft.com/office/drawing/2014/main" id="{F88FD7C2-5937-4BA1-8758-CD1C6A75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rPr>
              <a:t>按训练数值约定反投影，不加 h/2，也不额外转换到 world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rPr>
              <a:t>原生坐标与几何中心语义仍待独立核验</a:t>
            </a:r>
          </a:p>
        </p:txBody>
      </p:sp>
    </p:spTree>
    <p:extLst>
      <p:ext uri="{BB962C8B-B14F-4D97-AF65-F5344CB8AC3E}">
        <p14:creationId xmlns:p14="http://schemas.microsoft.com/office/powerpoint/2010/main" val="1520703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7E5C1A49-45E9-45F8-88C5-F4AFD85A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完整内部验证结果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D8D1706-BB7C-435C-BCF9-2F9C3C81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同一 42×30＝1,260 帧验证，中心误差为逐帧 native XYZ 欧氏距离均值</a:t>
            </a:r>
          </a:p>
        </p:txBody>
      </p:sp>
      <p:sp>
        <p:nvSpPr>
          <p:cNvPr id="3" name="footer">
            <a:extLst xmlns:a="http://schemas.openxmlformats.org/drawingml/2006/main">
              <a:ext uri="{FF2B5EF4-FFF2-40B4-BE49-F238E27FC236}">
                <a16:creationId xmlns:a16="http://schemas.microsoft.com/office/drawing/2014/main" id="{398C910A-74D5-4A7D-A3EB-01BA7D45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内部验证 / 2026.10.23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389B3D-0149-405D-B353-08B7A350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BCC80-B07D-4E65-994E-8927F3A7AF94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24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76800"/>
                <a:gridCol w="3048000"/>
                <a:gridCol w="3048000"/>
              </a:tblGrid>
              <a:tr h="54483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原始中心误差 / m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先验后中心误差 / m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T w="9525">
                      <a:solidFill>
                        <a:srgbClr val="D4DFE8"/>
                      </a:solidFill>
                      <a:prstDash val="solid"/>
                    </a:lnT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E9F1F7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轮，无空间残差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29.7237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未对照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轮，有空间残差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13.7467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未对照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轮，有空间残差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12.2360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A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6.5386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 轮＋2 轮完整时序续训</a:t>
                      </a:r>
                    </a:p>
                  </a:txBody>
                  <a:tcPr marL="133350" marR="114300" marT="76200" marB="76200" anchor="ctr">
                    <a:lnL w="9525">
                      <a:solidFill>
                        <a:srgbClr val="D4DFE8"/>
                      </a:solidFill>
                      <a:prstDash val="solid"/>
                    </a:lnL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10.7594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E6F4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0F766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6.3588</a:t>
                      </a:r>
                    </a:p>
                  </a:txBody>
                  <a:tcPr marL="133350" marR="114300" marT="76200" marB="76200" anchor="ctr">
                    <a:lnR w="9525">
                      <a:solidFill>
                        <a:srgbClr val="D4DFE8"/>
                      </a:solidFill>
                      <a:prstDash val="solid"/>
                    </a:lnR>
                    <a:lnB w="9525">
                      <a:solidFill>
                        <a:srgbClr val="D4DFE8"/>
                      </a:solidFill>
                      <a:prstDash val="solid"/>
                    </a:lnB>
                    <a:solidFill>
                      <a:srgbClr val="E6F4F1"/>
                    </a:solidFill>
                  </a:tcPr>
                </a:tc>
              </a:tr>
            </a:tbl>
          </a:graphicData>
        </a:graphic>
      </p:graphicFrame>
      <p:sp>
        <p:nvSpPr>
          <p:cNvPr id="6" name="dimension-result">
            <a:extLst xmlns:a="http://schemas.openxmlformats.org/drawingml/2006/main">
              <a:ext uri="{FF2B5EF4-FFF2-40B4-BE49-F238E27FC236}">
                <a16:creationId xmlns:a16="http://schemas.microsoft.com/office/drawing/2014/main" id="{417D6C97-9303-4DBD-8E50-66EE8F7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最新模型尺寸 MAE：原始 0.6409 m，先验后 0.2292 m</a:t>
            </a:r>
          </a:p>
        </p:txBody>
      </p:sp>
      <p:sp>
        <p:nvSpPr>
          <p:cNvPr id="7" name="experiment-boundary">
            <a:extLst xmlns:a="http://schemas.openxmlformats.org/drawingml/2006/main">
              <a:ext uri="{FF2B5EF4-FFF2-40B4-BE49-F238E27FC236}">
                <a16:creationId xmlns:a16="http://schemas.microsoft.com/office/drawing/2014/main" id="{DFC6B989-D420-41D3-8A19-96D93013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前两行固定三轮，仅切换空间残差。前三行训练仅用每段前 3 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最后一行追加两轮完整 30 帧训练。先验后结果使用初始距离与尺寸</a:t>
            </a:r>
          </a:p>
        </p:txBody>
      </p:sp>
      <p:sp>
        <p:nvSpPr>
          <p:cNvPr id="8" name="metric-boundary">
            <a:extLst xmlns:a="http://schemas.openxmlformats.org/drawingml/2006/main">
              <a:ext uri="{FF2B5EF4-FFF2-40B4-BE49-F238E27FC236}">
                <a16:creationId xmlns:a16="http://schemas.microsoft.com/office/drawing/2014/main" id="{5873DD50-4AFD-4A54-AA2D-1CB527D4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rPr>
              <a:t>本页是内部中心误差，不等同官方 APE / ACE。官方成绩尚无</a:t>
            </a:r>
          </a:p>
        </p:txBody>
      </p:sp>
    </p:spTree>
    <p:extLst>
      <p:ext uri="{BB962C8B-B14F-4D97-AF65-F5344CB8AC3E}">
        <p14:creationId xmlns:p14="http://schemas.microsoft.com/office/powerpoint/2010/main" val="1419792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EC32413-CCC1-4BB9-A64C-67D8424B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复现材料与验证边界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BDBE7542-13E0-4559-A803-72333879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内部验证 / 2026.10.23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01F47D-157C-4DDC-8395-8C53D835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579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4" name="delivery-label">
            <a:extLst xmlns:a="http://schemas.openxmlformats.org/drawingml/2006/main">
              <a:ext uri="{FF2B5EF4-FFF2-40B4-BE49-F238E27FC236}">
                <a16:creationId xmlns:a16="http://schemas.microsoft.com/office/drawing/2014/main" id="{7ED6E086-10DB-4BCE-8C86-BBFDD665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365A6"/>
                </a:solidFill>
                <a:latin typeface="Microsoft YaHei"/>
                <a:ea typeface="Microsoft YaHei"/>
                <a:cs typeface="Microsoft YaHei"/>
              </a:rPr>
              <a:t>已完成的复现核验</a:t>
            </a:r>
          </a:p>
        </p:txBody>
      </p:sp>
      <p:sp>
        <p:nvSpPr>
          <p:cNvPr id="5" name="delivery-body">
            <a:extLst xmlns:a="http://schemas.openxmlformats.org/drawingml/2006/main">
              <a:ext uri="{FF2B5EF4-FFF2-40B4-BE49-F238E27FC236}">
                <a16:creationId xmlns:a16="http://schemas.microsoft.com/office/drawing/2014/main" id="{80442997-87FF-419C-AE7E-FE753E9D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同一模型完成 10 个 TEST 片段、300 帧无标签推理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输出保留原始预测、可选先验候选与来源 SHA256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匹配 ONNX 通过 checker 和连续两步 ONNX Runtime 对照</a:t>
            </a:r>
          </a:p>
        </p:txBody>
      </p:sp>
      <p:sp>
        <p:nvSpPr>
          <p:cNvPr id="6" name="onnx-boundary">
            <a:extLst xmlns:a="http://schemas.openxmlformats.org/drawingml/2006/main">
              <a:ext uri="{FF2B5EF4-FFF2-40B4-BE49-F238E27FC236}">
                <a16:creationId xmlns:a16="http://schemas.microsoft.com/office/drawing/2014/main" id="{99BBE16B-C5BE-407D-92C1-363A3EC5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2687D"/>
                </a:solidFill>
                <a:latin typeface="Microsoft YaHei"/>
                <a:ea typeface="Microsoft YaHei"/>
                <a:cs typeface="Microsoft YaHei"/>
              </a:rPr>
              <a:t>ONNX 显式输入时序状态与噪声，分词、几何解码和文本先验在图外执行</a:t>
            </a:r>
          </a:p>
        </p:txBody>
      </p:sp>
      <p:sp>
        <p:nvSpPr>
          <p:cNvPr id="7" name="limits-label">
            <a:extLst xmlns:a="http://schemas.openxmlformats.org/drawingml/2006/main">
              <a:ext uri="{FF2B5EF4-FFF2-40B4-BE49-F238E27FC236}">
                <a16:creationId xmlns:a16="http://schemas.microsoft.com/office/drawing/2014/main" id="{DC2550CC-0A8B-435C-A3C6-86F2B3C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5B19"/>
                </a:solidFill>
                <a:latin typeface="Microsoft YaHei"/>
                <a:ea typeface="Microsoft YaHei"/>
                <a:cs typeface="Microsoft YaHei"/>
              </a:rPr>
              <a:t>当前证据的范围</a:t>
            </a:r>
          </a:p>
        </p:txBody>
      </p:sp>
      <p:sp>
        <p:nvSpPr>
          <p:cNvPr id="8" name="limits-body">
            <a:extLst xmlns:a="http://schemas.openxmlformats.org/drawingml/2006/main">
              <a:ext uri="{FF2B5EF4-FFF2-40B4-BE49-F238E27FC236}">
                <a16:creationId xmlns:a16="http://schemas.microsoft.com/office/drawing/2014/main" id="{9DF5ACD0-FF5E-4AAD-B64C-D6C07C3D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本轮训练按场景隔离，初始化权重的完整训练历史仍未查清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初始距离作为全帧半径可能损害运动目标，物理坐标约定仍待核验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尚未进行官方提交，内部验证与格式检查不代表官方成绩</a:t>
            </a:r>
          </a:p>
        </p:txBody>
      </p:sp>
    </p:spTree>
    <p:extLst>
      <p:ext uri="{BB962C8B-B14F-4D97-AF65-F5344CB8AC3E}">
        <p14:creationId xmlns:p14="http://schemas.microsoft.com/office/powerpoint/2010/main" val="256476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2026-10-23T10:04:24.4900000Z</dcterms:created>
  <dcterms:modified xsi:type="dcterms:W3CDTF">2026-10-23T10:04:24.4900000Z</dcterms:modified>
</coreProperties>
</file>